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Geist" panose="020B0604020202020204" charset="0"/>
      <p:regular r:id="rId17"/>
    </p:embeddedFont>
    <p:embeddedFont>
      <p:font typeface="Geist Bold" panose="020B0604020202020204" charset="0"/>
      <p:regular r:id="rId18"/>
    </p:embeddedFont>
    <p:embeddedFont>
      <p:font typeface="Noto Serif 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1015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F9F2">
              <a:alpha val="95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3795" y="1078805"/>
            <a:ext cx="3525154" cy="4700389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61475" y="552091"/>
            <a:ext cx="6296860" cy="37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00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Welcome to Web Development</a:t>
            </a:r>
            <a:endParaRPr lang="en-US" sz="6000" dirty="0"/>
          </a:p>
        </p:txBody>
      </p:sp>
      <p:sp>
        <p:nvSpPr>
          <p:cNvPr id="5" name="Text 1"/>
          <p:cNvSpPr/>
          <p:nvPr/>
        </p:nvSpPr>
        <p:spPr>
          <a:xfrm>
            <a:off x="661475" y="3342977"/>
            <a:ext cx="6296860" cy="71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450"/>
              </a:spcAft>
              <a:buNone/>
            </a:pPr>
            <a:r>
              <a:rPr lang="en-US" sz="1300" i="1" dirty="0">
                <a:solidFill>
                  <a:srgbClr val="1A56D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</a:t>
            </a:r>
            <a:r>
              <a:rPr lang="en-US" i="1" dirty="0">
                <a:solidFill>
                  <a:srgbClr val="1A56D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is not a class. This is the beginning of your career."</a:t>
            </a:r>
            <a:endParaRPr lang="en-US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Lucky Nakola | Tech Pulse Insider</a:t>
            </a:r>
            <a:endParaRPr lang="en-US" dirty="0"/>
          </a:p>
        </p:txBody>
      </p:sp>
      <p:sp>
        <p:nvSpPr>
          <p:cNvPr id="6" name="Shape 2"/>
          <p:cNvSpPr/>
          <p:nvPr/>
        </p:nvSpPr>
        <p:spPr>
          <a:xfrm>
            <a:off x="661475" y="4285555"/>
            <a:ext cx="6296860" cy="19050"/>
          </a:xfrm>
          <a:prstGeom prst="roundRect">
            <a:avLst>
              <a:gd name="adj" fmla="val 49999"/>
            </a:avLst>
          </a:prstGeom>
          <a:solidFill>
            <a:srgbClr val="4B4A4A">
              <a:alpha val="5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356681" y="4856671"/>
            <a:ext cx="11470133" cy="117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highlight>
                  <a:srgbClr val="FFFF00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280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08559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The World Runs on Software</a:t>
            </a:r>
            <a:endParaRPr lang="en-US" sz="3250" dirty="0"/>
          </a:p>
        </p:txBody>
      </p:sp>
      <p:sp>
        <p:nvSpPr>
          <p:cNvPr id="3" name="Shape 1"/>
          <p:cNvSpPr/>
          <p:nvPr/>
        </p:nvSpPr>
        <p:spPr>
          <a:xfrm>
            <a:off x="661475" y="1855986"/>
            <a:ext cx="2032842" cy="251420"/>
          </a:xfrm>
          <a:prstGeom prst="roundRect">
            <a:avLst>
              <a:gd name="adj" fmla="val 47364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60691" y="1905595"/>
            <a:ext cx="2443994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WHY SOFTWARE? WHY NOW?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61475" y="2293441"/>
            <a:ext cx="3512653" cy="2282527"/>
          </a:xfrm>
          <a:prstGeom prst="roundRect">
            <a:avLst>
              <a:gd name="adj" fmla="val 6521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3119" y="2465090"/>
            <a:ext cx="316936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Every Industry Is Being Rebuilt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3119" y="3081238"/>
            <a:ext cx="31693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Banking, healthcare, agriculture, education, logistics — if you can build software, </a:t>
            </a:r>
            <a:r>
              <a:rPr lang="en-US" sz="13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every door is open.</a:t>
            </a:r>
            <a:r>
              <a:rPr lang="en-US" sz="13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The world does not run on oil anymore. It runs on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9422" y="2293441"/>
            <a:ext cx="3512752" cy="2282527"/>
          </a:xfrm>
          <a:prstGeom prst="roundRect">
            <a:avLst>
              <a:gd name="adj" fmla="val 6521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1066" y="2465090"/>
            <a:ext cx="316946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Africa's Digital Economy Is Exploding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11066" y="3081238"/>
            <a:ext cx="3169464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Africa has </a:t>
            </a:r>
            <a:r>
              <a:rPr lang="en-US" sz="13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1.4 billion people</a:t>
            </a:r>
            <a:r>
              <a:rPr lang="en-US" sz="13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and a digital economy growing faster than any other region. The developers who build for Africa will </a:t>
            </a:r>
            <a:r>
              <a:rPr lang="en-US" sz="13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define the next decade.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17468" y="2293441"/>
            <a:ext cx="3512653" cy="2282527"/>
          </a:xfrm>
          <a:prstGeom prst="roundRect">
            <a:avLst>
              <a:gd name="adj" fmla="val 6521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9112" y="2465090"/>
            <a:ext cx="316936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Highest-Paid Professionals on Earth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89112" y="3081238"/>
            <a:ext cx="3169364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Software developers command top salaries globally — and the barrier to entry is just </a:t>
            </a:r>
            <a:r>
              <a:rPr lang="en-US" sz="13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 laptop, internet, and the willingness to learn.</a:t>
            </a:r>
            <a:r>
              <a:rPr lang="en-US" sz="13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That's 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4723" y="4948039"/>
            <a:ext cx="11230289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0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"You are not late. You are exactly on time."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1475" y="4762004"/>
            <a:ext cx="19050" cy="636687"/>
          </a:xfrm>
          <a:prstGeom prst="roundRect">
            <a:avLst>
              <a:gd name="adj" fmla="val 49999"/>
            </a:avLst>
          </a:prstGeom>
          <a:solidFill>
            <a:srgbClr val="006747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82" y="5584726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0320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Why Start With the Web?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661475" y="1488480"/>
            <a:ext cx="2352616" cy="213717"/>
          </a:xfrm>
          <a:prstGeom prst="roundRect">
            <a:avLst>
              <a:gd name="adj" fmla="val 47361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45809" y="1530648"/>
            <a:ext cx="2793533" cy="1293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WHY WEB DEVELOPMENT SPECIFICALLY?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61475" y="1836539"/>
            <a:ext cx="5374644" cy="1554857"/>
          </a:xfrm>
          <a:prstGeom prst="roundRect">
            <a:avLst>
              <a:gd name="adj" fmla="val 813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8315" y="1983383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4299" y="2099270"/>
            <a:ext cx="189702" cy="1897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8315" y="2524522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Universal Reach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8315" y="2828429"/>
            <a:ext cx="50809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website works on every device, every platform, every country. No app store approval. No installation. Just a URL — and the world can see your work.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55576" y="1836539"/>
            <a:ext cx="5374644" cy="1554857"/>
          </a:xfrm>
          <a:prstGeom prst="roundRect">
            <a:avLst>
              <a:gd name="adj" fmla="val 813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2416" y="1983383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400" y="2099270"/>
            <a:ext cx="189702" cy="1897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02416" y="2524522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🛠️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Lowest Barrier to Start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302416" y="2828429"/>
            <a:ext cx="50809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text editor and a browser. That is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all you need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to begin. No expensive equipment. No special lab. Just you and your machine.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61475" y="3510855"/>
            <a:ext cx="5374644" cy="1554857"/>
          </a:xfrm>
          <a:prstGeom prst="roundRect">
            <a:avLst>
              <a:gd name="adj" fmla="val 813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8315" y="3657699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4299" y="3773587"/>
            <a:ext cx="189702" cy="1897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8315" y="4198838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🔗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Gateway to Everything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8315" y="4502745"/>
            <a:ext cx="50809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Web development leads to mobile apps, AI interfaces, APIs, cloud services, and full-stack engineering. It is the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on-ramp to the entire tech industry.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55576" y="3510855"/>
            <a:ext cx="5374644" cy="1554857"/>
          </a:xfrm>
          <a:prstGeom prst="roundRect">
            <a:avLst>
              <a:gd name="adj" fmla="val 813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302416" y="3657699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8400" y="3773587"/>
            <a:ext cx="189702" cy="1897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2416" y="4198838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💼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Immediate Employability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302416" y="4502745"/>
            <a:ext cx="50809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Freelance, agency, startup, corporate, remote — web skills are hired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everywhere.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You can be earning before you even finish this programme.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61475" y="5200055"/>
            <a:ext cx="10868745" cy="505222"/>
          </a:xfrm>
          <a:prstGeom prst="roundRect">
            <a:avLst>
              <a:gd name="adj" fmla="val 25043"/>
            </a:avLst>
          </a:prstGeom>
          <a:solidFill>
            <a:srgbClr val="CCFFE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965" y="5371405"/>
            <a:ext cx="175712" cy="14049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18167" y="5354638"/>
            <a:ext cx="10881147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i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"Web development is not a niche skill. It is the foundation of the entire digital economy."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356682" y="5839619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1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0655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This Is Bigger Than Code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661475" y="1318816"/>
            <a:ext cx="2601748" cy="213717"/>
          </a:xfrm>
          <a:prstGeom prst="roundRect">
            <a:avLst>
              <a:gd name="adj" fmla="val 47361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45809" y="1360984"/>
            <a:ext cx="3042665" cy="1293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21ST CENTURY SKILLS YOU ARE BUILDING</a:t>
            </a:r>
            <a:endParaRPr lang="en-US" sz="8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666875"/>
            <a:ext cx="351424" cy="35143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62219" y="1666875"/>
            <a:ext cx="48589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🧠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Computational Thinking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62219" y="1970782"/>
            <a:ext cx="48589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Break any problem into logical, solvable steps. This skill transfers to every domain of life.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0458" y="1666875"/>
            <a:ext cx="351424" cy="35143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671203" y="1666875"/>
            <a:ext cx="48590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🔍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Problem Solving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671203" y="1970782"/>
            <a:ext cx="48590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Diagnose, research, iterate, and fix under pressure. This is what separates good developers from great ones.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2625824"/>
            <a:ext cx="351424" cy="35143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62219" y="2625824"/>
            <a:ext cx="48589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🤝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Collaboration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162219" y="2929731"/>
            <a:ext cx="48589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 with teams, review code, and ship together. No great product was ever built alone.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458" y="2625824"/>
            <a:ext cx="351424" cy="35143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671203" y="2625824"/>
            <a:ext cx="48590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🗣️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Communication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6671203" y="2929731"/>
            <a:ext cx="48590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Translate technical concepts for any audience. The developer who can explain is the developer who leads.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3584773"/>
            <a:ext cx="351424" cy="35143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62219" y="3584773"/>
            <a:ext cx="48589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Attention to Detail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1162219" y="3888680"/>
            <a:ext cx="48589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missing semicolon can break everything. Precision is not optional — it is the job.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70458" y="3584773"/>
            <a:ext cx="351424" cy="351433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671203" y="3584773"/>
            <a:ext cx="48590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🔁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Continuous Learning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671203" y="3888680"/>
            <a:ext cx="48590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tech stack changes; your learning habit is the constant. Build the habit now and it pays forever.</a:t>
            </a:r>
            <a:endParaRPr lang="en-US" sz="11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4543723"/>
            <a:ext cx="351424" cy="35143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162219" y="4543723"/>
            <a:ext cx="48589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Creativity &amp; Design Thinking</a:t>
            </a:r>
            <a:endParaRPr lang="en-US" sz="1350" dirty="0"/>
          </a:p>
        </p:txBody>
      </p:sp>
      <p:sp>
        <p:nvSpPr>
          <p:cNvPr id="25" name="Text 16"/>
          <p:cNvSpPr/>
          <p:nvPr/>
        </p:nvSpPr>
        <p:spPr>
          <a:xfrm>
            <a:off x="1162219" y="4847630"/>
            <a:ext cx="48589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 things people actually want to use. Technical skill without empathy builds tools nobody touches.</a:t>
            </a:r>
            <a:endParaRPr lang="en-US" sz="1100" dirty="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0458" y="4543723"/>
            <a:ext cx="351424" cy="351433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671203" y="4543723"/>
            <a:ext cx="4859018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🧪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Experimentation &amp; Resilience</a:t>
            </a:r>
            <a:endParaRPr lang="en-US" sz="1350" dirty="0"/>
          </a:p>
        </p:txBody>
      </p:sp>
      <p:sp>
        <p:nvSpPr>
          <p:cNvPr id="28" name="Text 18"/>
          <p:cNvSpPr/>
          <p:nvPr/>
        </p:nvSpPr>
        <p:spPr>
          <a:xfrm>
            <a:off x="6671203" y="4847630"/>
            <a:ext cx="4859018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Fail fast, learn faster, ship better. Every bug is a lesson. Every crash is a teacher.</a:t>
            </a:r>
            <a:endParaRPr lang="en-US" sz="1100" dirty="0"/>
          </a:p>
        </p:txBody>
      </p:sp>
      <p:sp>
        <p:nvSpPr>
          <p:cNvPr id="29" name="Text 19"/>
          <p:cNvSpPr/>
          <p:nvPr/>
        </p:nvSpPr>
        <p:spPr>
          <a:xfrm>
            <a:off x="872309" y="5532438"/>
            <a:ext cx="11267495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i="1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"Employers do not just hire people who can code. They hire people who can </a:t>
            </a:r>
            <a:r>
              <a:rPr lang="en-US" sz="110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think, communicate, and build under pressure.</a:t>
            </a:r>
            <a:r>
              <a:rPr lang="en-US" sz="1100" i="1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This programme builds all of it."</a:t>
            </a:r>
            <a:endParaRPr lang="en-US" sz="1100" dirty="0"/>
          </a:p>
        </p:txBody>
      </p:sp>
      <p:sp>
        <p:nvSpPr>
          <p:cNvPr id="30" name="Shape 20"/>
          <p:cNvSpPr/>
          <p:nvPr/>
        </p:nvSpPr>
        <p:spPr>
          <a:xfrm>
            <a:off x="661475" y="5398095"/>
            <a:ext cx="19050" cy="476746"/>
          </a:xfrm>
          <a:prstGeom prst="roundRect">
            <a:avLst>
              <a:gd name="adj" fmla="val 49999"/>
            </a:avLst>
          </a:prstGeom>
          <a:solidFill>
            <a:srgbClr val="006747"/>
          </a:solidFill>
          <a:ln/>
        </p:spPr>
      </p:sp>
      <p:sp>
        <p:nvSpPr>
          <p:cNvPr id="31" name="Text 21"/>
          <p:cNvSpPr/>
          <p:nvPr/>
        </p:nvSpPr>
        <p:spPr>
          <a:xfrm>
            <a:off x="356682" y="6009184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1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6241"/>
            <a:ext cx="10868745" cy="387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What We Are Building Toward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61475" y="1139924"/>
            <a:ext cx="1168867" cy="188516"/>
          </a:xfrm>
          <a:prstGeom prst="roundRect">
            <a:avLst>
              <a:gd name="adj" fmla="val 47376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35887" y="1177131"/>
            <a:ext cx="1629627" cy="11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OUR GOAL TOGETHER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785495" y="1619052"/>
            <a:ext cx="124020" cy="558105"/>
          </a:xfrm>
          <a:prstGeom prst="roundRect">
            <a:avLst>
              <a:gd name="adj" fmla="val 50000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6502" y="1557040"/>
            <a:ext cx="10403719" cy="200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🧱</a:t>
            </a:r>
            <a:r>
              <a:rPr lang="en-US" sz="12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Foundation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6502" y="1812925"/>
            <a:ext cx="10403719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Understand how the internet, web, and software actually work — from the ground up, no shortcuts.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71526" y="2456259"/>
            <a:ext cx="124020" cy="558105"/>
          </a:xfrm>
          <a:prstGeom prst="roundRect">
            <a:avLst>
              <a:gd name="adj" fmla="val 50000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12532" y="2394248"/>
            <a:ext cx="10217688" cy="200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🏗️</a:t>
            </a:r>
            <a:r>
              <a:rPr lang="en-US" sz="12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Build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12532" y="2650133"/>
            <a:ext cx="10217688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Create real projects using HTML, CSS, JavaScript, PHP, and MySQL. Not toy exercises — real things.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157556" y="3293467"/>
            <a:ext cx="124020" cy="558105"/>
          </a:xfrm>
          <a:prstGeom prst="roundRect">
            <a:avLst>
              <a:gd name="adj" fmla="val 50000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98563" y="3231455"/>
            <a:ext cx="10031658" cy="200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🚀</a:t>
            </a:r>
            <a:r>
              <a:rPr lang="en-US" sz="12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Ship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98563" y="3487341"/>
            <a:ext cx="10031658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Deploy live websites and applications that real people can use. Your work goes live on the internet.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43686" y="4130675"/>
            <a:ext cx="124020" cy="558105"/>
          </a:xfrm>
          <a:prstGeom prst="roundRect">
            <a:avLst>
              <a:gd name="adj" fmla="val 50000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84692" y="4068663"/>
            <a:ext cx="9845528" cy="200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💼</a:t>
            </a:r>
            <a:r>
              <a:rPr lang="en-US" sz="12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Portfolio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84692" y="4324548"/>
            <a:ext cx="9845528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Graduate with a portfolio of work that </a:t>
            </a:r>
            <a:r>
              <a:rPr lang="en-US" sz="95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proves your skills</a:t>
            </a: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not just a certificate, but evidence.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157556" y="4967883"/>
            <a:ext cx="124020" cy="558105"/>
          </a:xfrm>
          <a:prstGeom prst="roundRect">
            <a:avLst>
              <a:gd name="adj" fmla="val 50000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8563" y="4905871"/>
            <a:ext cx="10031658" cy="200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🌍</a:t>
            </a:r>
            <a:r>
              <a:rPr lang="en-US" sz="12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Career or Business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98563" y="5161756"/>
            <a:ext cx="10031658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Enter the job market or launch your own tech product. Both paths are real. Both paths are yours.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2713" y="5735241"/>
            <a:ext cx="11292300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95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"Our goal is not for you to finish this course. Our goal is for you to be dangerous — </a:t>
            </a:r>
            <a:r>
              <a:rPr lang="en-US" sz="950" b="1" i="1" dirty="0">
                <a:solidFill>
                  <a:srgbClr val="1A56DB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professionally dangerous.</a:t>
            </a:r>
            <a:r>
              <a:rPr lang="en-US" sz="95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1475" y="5630664"/>
            <a:ext cx="12700" cy="382786"/>
          </a:xfrm>
          <a:prstGeom prst="roundRect">
            <a:avLst>
              <a:gd name="adj" fmla="val 49999"/>
            </a:avLst>
          </a:prstGeom>
          <a:solidFill>
            <a:srgbClr val="006747"/>
          </a:solidFill>
          <a:ln/>
        </p:spPr>
      </p:sp>
      <p:sp>
        <p:nvSpPr>
          <p:cNvPr id="22" name="Text 20"/>
          <p:cNvSpPr/>
          <p:nvPr/>
        </p:nvSpPr>
        <p:spPr>
          <a:xfrm>
            <a:off x="356682" y="6118027"/>
            <a:ext cx="11478330" cy="173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95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61475" y="1537593"/>
            <a:ext cx="372061" cy="372070"/>
          </a:xfrm>
          <a:prstGeom prst="ellipse">
            <a:avLst/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441" y="1630561"/>
            <a:ext cx="186031" cy="186035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47505" y="2374801"/>
            <a:ext cx="372061" cy="372070"/>
          </a:xfrm>
          <a:prstGeom prst="ellipse">
            <a:avLst/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471" y="2467769"/>
            <a:ext cx="186031" cy="186035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1033536" y="3212009"/>
            <a:ext cx="372061" cy="372070"/>
          </a:xfrm>
          <a:prstGeom prst="ellipse">
            <a:avLst/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6502" y="3304977"/>
            <a:ext cx="186031" cy="18603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219666" y="4049216"/>
            <a:ext cx="372061" cy="372070"/>
          </a:xfrm>
          <a:prstGeom prst="ellipse">
            <a:avLst/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12631" y="4142184"/>
            <a:ext cx="186031" cy="186035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1033536" y="4886424"/>
            <a:ext cx="372061" cy="372070"/>
          </a:xfrm>
          <a:prstGeom prst="ellipse">
            <a:avLst/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6502" y="4979392"/>
            <a:ext cx="186031" cy="186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12589"/>
            <a:ext cx="10868745" cy="490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Building Your Professional Environment</a:t>
            </a:r>
            <a:endParaRPr lang="en-US" sz="3050" dirty="0"/>
          </a:p>
        </p:txBody>
      </p:sp>
      <p:sp>
        <p:nvSpPr>
          <p:cNvPr id="3" name="Shape 1"/>
          <p:cNvSpPr/>
          <p:nvPr/>
        </p:nvSpPr>
        <p:spPr>
          <a:xfrm>
            <a:off x="661475" y="1501973"/>
            <a:ext cx="2753450" cy="238820"/>
          </a:xfrm>
          <a:prstGeom prst="roundRect">
            <a:avLst>
              <a:gd name="adj" fmla="val 47369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55730" y="1549102"/>
            <a:ext cx="3174524" cy="14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YOU NEED: YOUR DEVELOPER SETUP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908671"/>
            <a:ext cx="5359762" cy="14354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3782" y="2084784"/>
            <a:ext cx="4931346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💻</a:t>
            </a:r>
            <a:r>
              <a:rPr lang="en-US" sz="15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The Machine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3782" y="2432546"/>
            <a:ext cx="4931346" cy="735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Any reasonably modern laptop — Windows, Mac, or Linux. </a:t>
            </a: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Minimum: 8GB RAM, 256GB SSD storage, stable internet.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Your laptop is your workshop. Treat it like one. Keep it charged, backed up, and ready.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8" y="1908671"/>
            <a:ext cx="5359762" cy="143549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22765" y="2084784"/>
            <a:ext cx="4931346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⚡</a:t>
            </a:r>
            <a:r>
              <a:rPr lang="en-US" sz="15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VS Code — Your Code Editor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22765" y="2432546"/>
            <a:ext cx="4931346" cy="735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Free. Lightweight. Industry standard.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Download at </a:t>
            </a:r>
            <a:r>
              <a:rPr lang="en-US" sz="1200" dirty="0">
                <a:solidFill>
                  <a:srgbClr val="4B4A4A"/>
                </a:solidFill>
                <a:highlight>
                  <a:srgbClr val="D8ECE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code.visualstudio.com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This is where you will spend the majority of your working hours. Learn it deeply — shortcuts, settings, and all.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269" y="3512046"/>
            <a:ext cx="5469098" cy="2220218"/>
          </a:xfrm>
          <a:prstGeom prst="roundRect">
            <a:avLst>
              <a:gd name="adj" fmla="val 10191"/>
            </a:avLst>
          </a:prstGeom>
          <a:solidFill>
            <a:srgbClr val="0A2342">
              <a:alpha val="95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705328" y="3661271"/>
            <a:ext cx="5154980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🔌</a:t>
            </a:r>
            <a:r>
              <a:rPr lang="en-US" sz="1500" b="1" dirty="0">
                <a:solidFill>
                  <a:srgbClr val="FFFFFF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Essential VS Code Extensions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5328" y="4068762"/>
            <a:ext cx="5154980" cy="1434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43840" indent="-243840" algn="l">
              <a:lnSpc>
                <a:spcPct val="130000"/>
              </a:lnSpc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Prettier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Auto-formats your code so it stays clean</a:t>
            </a:r>
            <a:endParaRPr lang="en-US" sz="1200" dirty="0"/>
          </a:p>
          <a:p>
            <a:pPr marL="243840" indent="-243840" algn="l">
              <a:lnSpc>
                <a:spcPct val="130000"/>
              </a:lnSpc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Live Server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Instant browser preview as you type</a:t>
            </a:r>
            <a:endParaRPr lang="en-US" sz="1200" dirty="0"/>
          </a:p>
          <a:p>
            <a:pPr marL="243840" indent="-243840" algn="l">
              <a:lnSpc>
                <a:spcPct val="130000"/>
              </a:lnSpc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GitLens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Track every change with full history</a:t>
            </a:r>
            <a:endParaRPr lang="en-US" sz="1200" dirty="0"/>
          </a:p>
          <a:p>
            <a:pPr marL="243840" indent="-243840" algn="l">
              <a:lnSpc>
                <a:spcPct val="130000"/>
              </a:lnSpc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Error Lens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Inline error highlights so nothing hides</a:t>
            </a:r>
            <a:endParaRPr lang="en-US" sz="1200" dirty="0"/>
          </a:p>
          <a:p>
            <a:pPr marL="243840" indent="-243840" algn="l">
              <a:lnSpc>
                <a:spcPct val="130000"/>
              </a:lnSpc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Path Intellisense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Smart file path autocomplete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293883" y="3661271"/>
            <a:ext cx="5242687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50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Your Browser: Chrome DevTools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293883" y="4068762"/>
            <a:ext cx="5242687" cy="735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 </a:t>
            </a: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Google Chrome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as your primary development browser. Master </a:t>
            </a: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Chrome DevTools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it is your debugging headquarters, your inspector, your performance analyzer, and your best friend when things break.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93883" y="4972149"/>
            <a:ext cx="5242687" cy="592237"/>
          </a:xfrm>
          <a:prstGeom prst="roundRect">
            <a:avLst>
              <a:gd name="adj" fmla="val 23877"/>
            </a:avLst>
          </a:prstGeom>
          <a:solidFill>
            <a:srgbClr val="CCFFEF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943" y="5200848"/>
            <a:ext cx="196349" cy="15706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04351" y="5145683"/>
            <a:ext cx="5184745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Right-click → Inspect → you are now inside the machine.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6682" y="5900142"/>
            <a:ext cx="11478330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02543"/>
            <a:ext cx="10868745" cy="490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Version Control Is Not Optional</a:t>
            </a:r>
            <a:endParaRPr lang="en-US" sz="3050" dirty="0"/>
          </a:p>
        </p:txBody>
      </p:sp>
      <p:sp>
        <p:nvSpPr>
          <p:cNvPr id="3" name="Shape 1"/>
          <p:cNvSpPr/>
          <p:nvPr/>
        </p:nvSpPr>
        <p:spPr>
          <a:xfrm>
            <a:off x="661475" y="1291927"/>
            <a:ext cx="3674673" cy="238820"/>
          </a:xfrm>
          <a:prstGeom prst="roundRect">
            <a:avLst>
              <a:gd name="adj" fmla="val 47369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55730" y="1339056"/>
            <a:ext cx="4095747" cy="14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GIT &amp; GITHUB: YOUR MOST IMPORTANT NON-CODING SKILL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269" y="1698625"/>
            <a:ext cx="5469098" cy="1671737"/>
          </a:xfrm>
          <a:prstGeom prst="roundRect">
            <a:avLst>
              <a:gd name="adj" fmla="val 13534"/>
            </a:avLst>
          </a:prstGeom>
          <a:solidFill>
            <a:srgbClr val="0A2342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05328" y="1847850"/>
            <a:ext cx="5154980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😱</a:t>
            </a:r>
            <a:r>
              <a:rPr lang="en-US" sz="1500" b="1" dirty="0">
                <a:solidFill>
                  <a:srgbClr val="FFFFFF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THE PROBLEM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05328" y="2255341"/>
            <a:ext cx="5154980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You change your code. </a:t>
            </a: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It breaks.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You cannot remember what it looked like before. You panic. You delete things trying to fix it. You make it worse. Without version control, </a:t>
            </a:r>
            <a:r>
              <a:rPr lang="en-US" sz="1200" b="1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every change is a gamble</a:t>
            </a: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and you are always one bad edit away from losing everything.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93883" y="1847850"/>
            <a:ext cx="5242687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🛡️</a:t>
            </a:r>
            <a:r>
              <a:rPr lang="en-US" sz="150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THE SOLUTION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93883" y="2255341"/>
            <a:ext cx="5242687" cy="735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Git tracks every change you ever make.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GitHub stores it in the cloud. You can go back to any version, anytime, forever. No more panic. No more lost work. No more "I wish I hadn't changed that." </a:t>
            </a:r>
            <a:r>
              <a:rPr lang="en-US" sz="1200" b="1" dirty="0">
                <a:solidFill>
                  <a:srgbClr val="047857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You are always safe.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1475" y="3538240"/>
            <a:ext cx="3523368" cy="1655266"/>
          </a:xfrm>
          <a:prstGeom prst="roundRect">
            <a:avLst>
              <a:gd name="adj" fmla="val 8543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884" y="3701653"/>
            <a:ext cx="3196550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📁</a:t>
            </a:r>
            <a:r>
              <a:rPr lang="en-US" sz="15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Git — Local Control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4884" y="4049415"/>
            <a:ext cx="3196550" cy="735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Runs on your machine. Tracks all changes with full history. Every save is a checkpoint you can return to.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4064" y="3538240"/>
            <a:ext cx="3523467" cy="1655266"/>
          </a:xfrm>
          <a:prstGeom prst="roundRect">
            <a:avLst>
              <a:gd name="adj" fmla="val 8543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7473" y="3701653"/>
            <a:ext cx="3196649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5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GitHub — Cloud Portfolio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97473" y="4049415"/>
            <a:ext cx="3196649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Cloud storage for your code + your professional portfolio. </a:t>
            </a: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Every employer will ask for your GitHub link.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Start building it now.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06753" y="3538240"/>
            <a:ext cx="3523368" cy="1655266"/>
          </a:xfrm>
          <a:prstGeom prst="roundRect">
            <a:avLst>
              <a:gd name="adj" fmla="val 8543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70162" y="3701653"/>
            <a:ext cx="3196550" cy="258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🤝</a:t>
            </a:r>
            <a:r>
              <a:rPr lang="en-US" sz="15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Collaboration at Scale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70162" y="4049415"/>
            <a:ext cx="3196550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real software team in the world uses Git. Learning it now puts you </a:t>
            </a:r>
            <a:r>
              <a:rPr lang="en-US" sz="12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ahead of 90% of beginners</a:t>
            </a:r>
            <a:r>
              <a:rPr lang="en-US" sz="12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before you write a single feature.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2321" y="5529263"/>
            <a:ext cx="11242691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"Your GitHub profile is your CV as a developer. </a:t>
            </a:r>
            <a:r>
              <a:rPr lang="en-US" sz="1200" b="1" i="1" dirty="0">
                <a:solidFill>
                  <a:srgbClr val="047857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Start building it from Day 1.</a:t>
            </a:r>
            <a:r>
              <a:rPr lang="en-US" sz="120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1475" y="5361384"/>
            <a:ext cx="19050" cy="580926"/>
          </a:xfrm>
          <a:prstGeom prst="roundRect">
            <a:avLst>
              <a:gd name="adj" fmla="val 49999"/>
            </a:avLst>
          </a:prstGeom>
          <a:solidFill>
            <a:srgbClr val="006747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82" y="6110188"/>
            <a:ext cx="11478330" cy="245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6446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Your Network Is Your Net Worth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661475" y="1294606"/>
            <a:ext cx="2352219" cy="213717"/>
          </a:xfrm>
          <a:prstGeom prst="roundRect">
            <a:avLst>
              <a:gd name="adj" fmla="val 47361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45809" y="1336774"/>
            <a:ext cx="2793136" cy="1293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COMMUNITY: YOU CANNOT BUILD ALONE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61475" y="1642666"/>
            <a:ext cx="5374644" cy="1762919"/>
          </a:xfrm>
          <a:prstGeom prst="roundRect">
            <a:avLst>
              <a:gd name="adj" fmla="val 717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8315" y="1789509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4299" y="1905397"/>
            <a:ext cx="189702" cy="1897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8315" y="2330648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👥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Your Cohort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8315" y="2634555"/>
            <a:ext cx="5080964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people in this room are your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first team.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Help each other. Debug together. Celebrate together. Your peers are your first professional network — and some will be your co-founders.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55576" y="1642666"/>
            <a:ext cx="5374644" cy="1762919"/>
          </a:xfrm>
          <a:prstGeom prst="roundRect">
            <a:avLst>
              <a:gd name="adj" fmla="val 717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2416" y="1789509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400" y="1905397"/>
            <a:ext cx="189702" cy="1897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02416" y="2330648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🧑‍🏫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Your Instructor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302416" y="2634555"/>
            <a:ext cx="50809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Ask questions.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Every question you hold back is a gap that stays.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There are no bad questions here — only questions you didn't ask and paid for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61475" y="3525044"/>
            <a:ext cx="5374644" cy="1762919"/>
          </a:xfrm>
          <a:prstGeom prst="roundRect">
            <a:avLst>
              <a:gd name="adj" fmla="val 717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8315" y="3671888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4299" y="3787775"/>
            <a:ext cx="189702" cy="1897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8315" y="4213027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🌍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Online Communities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08315" y="4516934"/>
            <a:ext cx="5080964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Stack Overflow, GitHub, Dev.to, Twitter/X tech community, local developer meetups: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Nairobi tech community, iHub, GDSC Kenya.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The global dev community is open to you right now.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55576" y="3525044"/>
            <a:ext cx="5374644" cy="1762919"/>
          </a:xfrm>
          <a:prstGeom prst="roundRect">
            <a:avLst>
              <a:gd name="adj" fmla="val 7177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302416" y="3671888"/>
            <a:ext cx="421669" cy="421680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8400" y="3787775"/>
            <a:ext cx="189702" cy="1897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2416" y="4213027"/>
            <a:ext cx="5080964" cy="23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🔁</a:t>
            </a: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Give Back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302416" y="4516934"/>
            <a:ext cx="5080964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fastest way to solidify your knowledge is to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teach it.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Write about what you learn. Help the person one step behind you. Teaching is the ultimate test of understanding.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872309" y="5556647"/>
            <a:ext cx="11267495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i="1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"The best developers in the world are not the smartest — they are the </a:t>
            </a:r>
            <a:r>
              <a:rPr lang="en-US" sz="110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most connected and the most consistent.</a:t>
            </a:r>
            <a:r>
              <a:rPr lang="en-US" sz="1100" i="1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61475" y="5422305"/>
            <a:ext cx="19050" cy="476746"/>
          </a:xfrm>
          <a:prstGeom prst="roundRect">
            <a:avLst>
              <a:gd name="adj" fmla="val 49999"/>
            </a:avLst>
          </a:prstGeom>
          <a:solidFill>
            <a:srgbClr val="006747"/>
          </a:solidFill>
          <a:ln/>
        </p:spPr>
      </p:sp>
      <p:sp>
        <p:nvSpPr>
          <p:cNvPr id="27" name="Text 21"/>
          <p:cNvSpPr/>
          <p:nvPr/>
        </p:nvSpPr>
        <p:spPr>
          <a:xfrm>
            <a:off x="356682" y="6033393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1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9750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Before You Write a Single Line of Code — Adopt This Mindset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1475" y="1164828"/>
            <a:ext cx="2407681" cy="201116"/>
          </a:xfrm>
          <a:prstGeom prst="roundRect">
            <a:avLst>
              <a:gd name="adj" fmla="val 47368"/>
            </a:avLst>
          </a:prstGeom>
          <a:solidFill>
            <a:srgbClr val="CCFFEF"/>
          </a:solidFill>
          <a:ln/>
        </p:spPr>
      </p:sp>
      <p:sp>
        <p:nvSpPr>
          <p:cNvPr id="4" name="Text 2"/>
          <p:cNvSpPr/>
          <p:nvPr/>
        </p:nvSpPr>
        <p:spPr>
          <a:xfrm>
            <a:off x="740848" y="1204516"/>
            <a:ext cx="2858520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DEVELOPER MINDSET: RULES TO LIVE BY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61475" y="1485007"/>
            <a:ext cx="5381490" cy="1437382"/>
          </a:xfrm>
          <a:prstGeom prst="roundRect">
            <a:avLst>
              <a:gd name="adj" fmla="val 8285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0080" y="1623616"/>
            <a:ext cx="396865" cy="396875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9218" y="1732756"/>
            <a:ext cx="178589" cy="1785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0080" y="2126258"/>
            <a:ext cx="5104280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🔎</a:t>
            </a:r>
            <a:r>
              <a:rPr lang="en-US" sz="13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Be Curious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0080" y="2402780"/>
            <a:ext cx="5104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Always ask </a:t>
            </a:r>
            <a:r>
              <a:rPr lang="en-US" sz="10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WHY</a:t>
            </a: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not just HOW. Why does this work? What breaks it? What is it connected to? Curiosity is the engine of every great developer.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48730" y="1485007"/>
            <a:ext cx="5381490" cy="1437382"/>
          </a:xfrm>
          <a:prstGeom prst="roundRect">
            <a:avLst>
              <a:gd name="adj" fmla="val 8285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87335" y="1623616"/>
            <a:ext cx="396865" cy="396875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6473" y="1732756"/>
            <a:ext cx="178589" cy="17859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287335" y="2126258"/>
            <a:ext cx="5104280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💪</a:t>
            </a:r>
            <a:r>
              <a:rPr lang="en-US" sz="13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Embrace Discomfort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287335" y="2402780"/>
            <a:ext cx="5104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If you are not confused at least once a day, </a:t>
            </a:r>
            <a:r>
              <a:rPr lang="en-US" sz="10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you are not learning fast enough.</a:t>
            </a: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Confusion is not failure — it is the feeling of your brain growing.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61475" y="3028156"/>
            <a:ext cx="5381490" cy="1437382"/>
          </a:xfrm>
          <a:prstGeom prst="roundRect">
            <a:avLst>
              <a:gd name="adj" fmla="val 8285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0080" y="3166765"/>
            <a:ext cx="396865" cy="396875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9218" y="3275905"/>
            <a:ext cx="178589" cy="1785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0080" y="3669407"/>
            <a:ext cx="5104280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🛠️</a:t>
            </a:r>
            <a:r>
              <a:rPr lang="en-US" sz="13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Build Something Every Day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00080" y="3945930"/>
            <a:ext cx="5104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Reading and watching tutorials is </a:t>
            </a:r>
            <a:r>
              <a:rPr lang="en-US" sz="10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not learning. Doing is learning.</a:t>
            </a: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Even if it's small. Even if it breaks. Build something every single day.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148730" y="3028156"/>
            <a:ext cx="5381490" cy="1437382"/>
          </a:xfrm>
          <a:prstGeom prst="roundRect">
            <a:avLst>
              <a:gd name="adj" fmla="val 8285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87335" y="3166765"/>
            <a:ext cx="396865" cy="396875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96473" y="3275905"/>
            <a:ext cx="178589" cy="17859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287335" y="3669407"/>
            <a:ext cx="5104280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🔁</a:t>
            </a:r>
            <a:r>
              <a:rPr lang="en-US" sz="13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Break Things on Purpose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287335" y="3945930"/>
            <a:ext cx="5104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best way to understand a system is to </a:t>
            </a:r>
            <a:r>
              <a:rPr lang="en-US" sz="10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break it and figure out why.</a:t>
            </a: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Controlled destruction is one of the most powerful learning tools you have.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661475" y="4571305"/>
            <a:ext cx="5381490" cy="1437382"/>
          </a:xfrm>
          <a:prstGeom prst="roundRect">
            <a:avLst>
              <a:gd name="adj" fmla="val 8285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00080" y="4709914"/>
            <a:ext cx="396865" cy="396875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9218" y="4819055"/>
            <a:ext cx="178589" cy="17859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00080" y="5212556"/>
            <a:ext cx="5104280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🗣️</a:t>
            </a:r>
            <a:r>
              <a:rPr lang="en-US" sz="13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Explain It Simply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800080" y="5489079"/>
            <a:ext cx="5104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If you cannot explain a concept to a non-developer, </a:t>
            </a:r>
            <a:r>
              <a:rPr lang="en-US" sz="10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you do not own it yet.</a:t>
            </a: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Simplicity is the proof of mastery. Complexity is the hiding place of confusion.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6148730" y="4571305"/>
            <a:ext cx="5381490" cy="1437382"/>
          </a:xfrm>
          <a:prstGeom prst="roundRect">
            <a:avLst>
              <a:gd name="adj" fmla="val 8285"/>
            </a:avLst>
          </a:prstGeom>
          <a:solidFill>
            <a:srgbClr val="D1EFE4"/>
          </a:solidFill>
          <a:ln w="6350">
            <a:solidFill>
              <a:srgbClr val="B7D5CA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287335" y="4709914"/>
            <a:ext cx="396865" cy="396875"/>
          </a:xfrm>
          <a:prstGeom prst="ellipse">
            <a:avLst/>
          </a:prstGeom>
          <a:solidFill>
            <a:srgbClr val="006747"/>
          </a:solidFill>
          <a:ln/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96473" y="4819055"/>
            <a:ext cx="178589" cy="17859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287335" y="5212556"/>
            <a:ext cx="5104280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📈</a:t>
            </a:r>
            <a:r>
              <a:rPr lang="en-US" sz="130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 Progress, Not Perfection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287335" y="5489079"/>
            <a:ext cx="5104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Shipped and imperfect beats perfect and never finished. Always.</a:t>
            </a:r>
            <a:r>
              <a:rPr lang="en-US" sz="10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The world rewards builders who ship, not perfectionists who wait.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356682" y="6127750"/>
            <a:ext cx="114783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4785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Concept → Understand → Practice → Build → Test → Deploy → Explain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9224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674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The Decision Is Already Made. Now Show Up.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237655"/>
            <a:ext cx="10868745" cy="1212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800" b="1" dirty="0">
                <a:solidFill>
                  <a:srgbClr val="1A56DB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"In five years, someone is going to be using something you built."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61475" y="2629297"/>
            <a:ext cx="10868745" cy="89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3000"/>
              </a:lnSpc>
              <a:spcAft>
                <a:spcPts val="1050"/>
              </a:spcAft>
              <a:buNone/>
            </a:pPr>
            <a:r>
              <a:rPr lang="en-US" sz="1100" i="1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"The question is not whether you can do this."</a:t>
            </a:r>
            <a:endParaRPr lang="en-US" sz="1100" dirty="0"/>
          </a:p>
          <a:p>
            <a:pPr marL="0" indent="0" algn="ctr">
              <a:lnSpc>
                <a:spcPct val="123000"/>
              </a:lnSpc>
              <a:spcAft>
                <a:spcPts val="1050"/>
              </a:spcAft>
              <a:buNone/>
            </a:pPr>
            <a:r>
              <a:rPr lang="en-US" sz="1100" i="1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"The question is whether you will show up — every day — and do the work."</a:t>
            </a:r>
            <a:endParaRPr lang="en-US" sz="1100" dirty="0"/>
          </a:p>
          <a:p>
            <a:pPr marL="0" indent="0" algn="ctr">
              <a:lnSpc>
                <a:spcPct val="123000"/>
              </a:lnSpc>
              <a:buNone/>
            </a:pPr>
            <a:r>
              <a:rPr lang="en-US" sz="1100" b="1" i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"We will be here. Will you?"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1475" y="3691632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4B4A4A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3924995"/>
            <a:ext cx="10868745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Your First Three Actions — Start Today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1475" y="4323755"/>
            <a:ext cx="281080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Noto Serif Light" pitchFamily="34" charset="0"/>
                <a:ea typeface="Noto Serif Light" pitchFamily="34" charset="-122"/>
                <a:cs typeface="Noto Serif Light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1475" y="4543623"/>
            <a:ext cx="3543211" cy="19050"/>
          </a:xfrm>
          <a:prstGeom prst="rect">
            <a:avLst/>
          </a:prstGeom>
          <a:solidFill>
            <a:srgbClr val="006747"/>
          </a:solidFill>
          <a:ln/>
        </p:spPr>
      </p:sp>
      <p:sp>
        <p:nvSpPr>
          <p:cNvPr id="9" name="Text 7"/>
          <p:cNvSpPr/>
          <p:nvPr/>
        </p:nvSpPr>
        <p:spPr>
          <a:xfrm>
            <a:off x="661475" y="4651970"/>
            <a:ext cx="354321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Download VS Code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1475" y="4943177"/>
            <a:ext cx="3543211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Install all 5 essential extensions: Prettier, Live Server, GitLens, Error Lens, Path Intellisense. Your environment is your foundation.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24143" y="4323755"/>
            <a:ext cx="281080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Noto Serif Light" pitchFamily="34" charset="0"/>
                <a:ea typeface="Noto Serif Light" pitchFamily="34" charset="-122"/>
                <a:cs typeface="Noto Serif Light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24143" y="4543623"/>
            <a:ext cx="3543311" cy="19050"/>
          </a:xfrm>
          <a:prstGeom prst="rect">
            <a:avLst/>
          </a:prstGeom>
          <a:solidFill>
            <a:srgbClr val="006747"/>
          </a:solidFill>
          <a:ln/>
        </p:spPr>
      </p:sp>
      <p:sp>
        <p:nvSpPr>
          <p:cNvPr id="13" name="Text 11"/>
          <p:cNvSpPr/>
          <p:nvPr/>
        </p:nvSpPr>
        <p:spPr>
          <a:xfrm>
            <a:off x="4324143" y="4651970"/>
            <a:ext cx="354331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Create Your GitHub Account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324143" y="4943177"/>
            <a:ext cx="3543311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Choose a </a:t>
            </a:r>
            <a:r>
              <a:rPr lang="en-US" sz="1100" b="1" dirty="0">
                <a:solidFill>
                  <a:srgbClr val="4B4A4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professional username</a:t>
            </a: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this is your developer identity. Your GitHub profile is your CV. Build it from Day 1.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86910" y="4323755"/>
            <a:ext cx="281080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Noto Serif Light" pitchFamily="34" charset="0"/>
                <a:ea typeface="Noto Serif Light" pitchFamily="34" charset="-122"/>
                <a:cs typeface="Noto Serif Light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86910" y="4543623"/>
            <a:ext cx="3543311" cy="19050"/>
          </a:xfrm>
          <a:prstGeom prst="rect">
            <a:avLst/>
          </a:prstGeom>
          <a:solidFill>
            <a:srgbClr val="006747"/>
          </a:solidFill>
          <a:ln/>
        </p:spPr>
      </p:sp>
      <p:sp>
        <p:nvSpPr>
          <p:cNvPr id="17" name="Text 15"/>
          <p:cNvSpPr/>
          <p:nvPr/>
        </p:nvSpPr>
        <p:spPr>
          <a:xfrm>
            <a:off x="7986910" y="4651970"/>
            <a:ext cx="354331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B4A4A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Join the Community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86910" y="4943177"/>
            <a:ext cx="3543311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B4A4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Join the class group and community channel. Introduce yourself. You are not alone in this — your cohort starts now.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1475" y="5842198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4B4A4A">
              <a:alpha val="5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56682" y="6030714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Get Techy With Lucky | Lucky Nakola | Tech Pulse Insider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1817</Words>
  <Application>Microsoft Office PowerPoint</Application>
  <PresentationFormat>Widescreen</PresentationFormat>
  <Paragraphs>143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Geist Bold</vt:lpstr>
      <vt:lpstr>Noto Serif Bold</vt:lpstr>
      <vt:lpstr>Arial</vt:lpstr>
      <vt:lpstr>Consolas</vt:lpstr>
      <vt:lpstr>Twemoji Mozilla</vt:lpstr>
      <vt:lpstr>Geist</vt:lpstr>
      <vt:lpstr>Noto Serif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LUCKY LOONKISHU</dc:creator>
  <cp:lastModifiedBy>LUCKY LOONKISHU</cp:lastModifiedBy>
  <cp:revision>6</cp:revision>
  <dcterms:created xsi:type="dcterms:W3CDTF">2026-09-07T07:12:44Z</dcterms:created>
  <dcterms:modified xsi:type="dcterms:W3CDTF">2026-09-08T21:21:39Z</dcterms:modified>
</cp:coreProperties>
</file>